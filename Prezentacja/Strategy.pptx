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68" r:id="rId2"/>
    <p:sldId id="271" r:id="rId3"/>
    <p:sldId id="269" r:id="rId4"/>
    <p:sldId id="277" r:id="rId5"/>
    <p:sldId id="262" r:id="rId6"/>
    <p:sldId id="278" r:id="rId7"/>
    <p:sldId id="272" r:id="rId8"/>
    <p:sldId id="274" r:id="rId9"/>
    <p:sldId id="275" r:id="rId10"/>
  </p:sldIdLst>
  <p:sldSz cx="12192000" cy="6858000"/>
  <p:notesSz cx="6858000" cy="9144000"/>
  <p:defaultTextStyle>
    <a:defPPr rtl="0"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E57"/>
    <a:srgbClr val="184259"/>
    <a:srgbClr val="9C4E4E"/>
    <a:srgbClr val="700000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2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1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72BF7510-B9ED-40E0-8274-4F64AD62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D95E24B0-B97F-4932-93CD-4307D6181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CF5A61-1DF8-4321-BFCA-0565935C8685}" type="datetime1">
              <a:rPr lang="pl-PL" smtClean="0"/>
              <a:t>06.12.2025</a:t>
            </a:fld>
            <a:endParaRPr lang="pl-PL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7FC3A0DF-A8A7-4EF4-96E5-757FFFC2A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22BEC987-E8F6-4FD2-BFB2-04815BD1D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C078EF9-7F2B-4B20-A25C-9E80C16977B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0114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777D9B4-1853-462C-95B4-5759B8CC0A81}" type="datetime1">
              <a:rPr lang="pl-PL" noProof="0" smtClean="0"/>
              <a:t>06.12.2025</a:t>
            </a:fld>
            <a:endParaRPr lang="pl-PL" noProof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AAF9CF-D1E5-49FD-94F7-B246BB67E246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292858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827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83544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35105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2B23-4734-10C5-A56D-1EB146315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EBB5EC4-F0C8-DF49-ECE5-E6AB5CEBA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A3EB1E5-C22F-638E-5C1A-DC326C6FD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22524CF-3EFB-4D5F-468A-5B9D438AF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72034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14665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16AC4-778D-4F19-A9F2-6969F098B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2B81281-6378-9FBE-336C-A90402174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A28C627-C780-2CFC-18C6-0EF99572B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1D2755E-6999-9089-8D59-E54AE3B33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1959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9567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34737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9500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ytuł i zawartość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85801" y="609600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685801" y="1869601"/>
            <a:ext cx="10840914" cy="3921600"/>
          </a:xfrm>
        </p:spPr>
        <p:txBody>
          <a:bodyPr rtlCol="0" anchor="t" anchorCtr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8BD39D-0B36-4232-AA4A-E086E9E66A06}" type="datetime1">
              <a:rPr lang="pl-PL" noProof="0" smtClean="0"/>
              <a:t>06.12.2025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328F7C25-BFB6-430F-87B6-7D0D2C74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2343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6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1786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2476500" y="2716272"/>
            <a:ext cx="8683625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2476500" y="5137736"/>
            <a:ext cx="8683625" cy="73284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256868BA-DC4E-4E10-A903-507912BCFA57}" type="datetime1">
              <a:rPr lang="pl-PL" noProof="0" smtClean="0"/>
              <a:t>06.12.2025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62937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552450" y="1874308"/>
            <a:ext cx="3814235" cy="1260000"/>
          </a:xfrm>
        </p:spPr>
        <p:txBody>
          <a:bodyPr rtlCol="0" anchor="ctr" anchorCtr="0">
            <a:noAutofit/>
          </a:bodyPr>
          <a:lstStyle>
            <a:lvl1pPr algn="r">
              <a:defRPr sz="30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4648200" y="0"/>
            <a:ext cx="7543800" cy="6856214"/>
          </a:xfrm>
        </p:spPr>
        <p:txBody>
          <a:bodyPr rtlCol="0" anchor="ctr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BC411B-41A8-4647-9078-D7960831A049}" type="datetime1">
              <a:rPr lang="pl-PL" noProof="0" smtClean="0"/>
              <a:t>06.12.2025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00633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is i zawartość tytuł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 hasCustomPrompt="1"/>
          </p:nvPr>
        </p:nvSpPr>
        <p:spPr>
          <a:xfrm>
            <a:off x="685799" y="1881824"/>
            <a:ext cx="10840914" cy="1032826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DC5ED57-A094-42F1-A083-BAFB015E0A64}" type="datetime1">
              <a:rPr lang="pl-PL" noProof="0" smtClean="0"/>
              <a:t>06.12.2025</a:t>
            </a:fld>
            <a:endParaRPr lang="pl-PL" noProof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Tekst — symbol zastępczy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6192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2" name="Tekst — symbol zastępczy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85799" y="2914650"/>
            <a:ext cx="10840914" cy="50212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0" name="Tekst — symbol zastępczy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65366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1" name="Tekst — symbol zastępczy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8424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9" name="Tekst — symbol zastępczy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2308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8" name="Tekst — symbol zastępczy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250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1457326" y="995967"/>
            <a:ext cx="6238874" cy="1260000"/>
          </a:xfrm>
        </p:spPr>
        <p:txBody>
          <a:bodyPr rtlCol="0" anchor="ctr" anchorCtr="0">
            <a:noAutofit/>
          </a:bodyPr>
          <a:lstStyle>
            <a:lvl1pPr algn="r">
              <a:defRPr sz="30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4" name="Obraz — symbol zastępczy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 hasCustomPrompt="1"/>
          </p:nvPr>
        </p:nvSpPr>
        <p:spPr>
          <a:xfrm>
            <a:off x="1085849" y="2255967"/>
            <a:ext cx="6610351" cy="347661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384CD6-CE1F-4D2F-91D7-1B8D983B6328}" type="datetime1">
              <a:rPr lang="pl-PL" noProof="0" smtClean="0"/>
              <a:t>06.12.2025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az — po prawej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57974" y="995968"/>
            <a:ext cx="4848225" cy="1260000"/>
          </a:xfrm>
        </p:spPr>
        <p:txBody>
          <a:bodyPr rtlCol="0" anchor="ctr" anchorCtr="0">
            <a:normAutofit/>
          </a:bodyPr>
          <a:lstStyle>
            <a:lvl1pPr algn="l">
              <a:defRPr sz="30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4" name="Obraz — symbol zastępczy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 hasCustomPrompt="1"/>
          </p:nvPr>
        </p:nvSpPr>
        <p:spPr>
          <a:xfrm>
            <a:off x="6657974" y="2255968"/>
            <a:ext cx="4848225" cy="347661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E680E8-DE78-415C-AE62-199B63B9E59B}" type="datetime1">
              <a:rPr lang="pl-PL" noProof="0" smtClean="0"/>
              <a:t>06.12.2025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tat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Pole tekstowe 14"/>
          <p:cNvSpPr txBox="1"/>
          <p:nvPr/>
        </p:nvSpPr>
        <p:spPr bwMode="white">
          <a:xfrm>
            <a:off x="1057124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l-PL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Pole tekstowe 10"/>
          <p:cNvSpPr txBox="1"/>
          <p:nvPr/>
        </p:nvSpPr>
        <p:spPr bwMode="white">
          <a:xfrm>
            <a:off x="10026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l-PL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1320801" y="609601"/>
            <a:ext cx="9550399" cy="2743199"/>
          </a:xfrm>
        </p:spPr>
        <p:txBody>
          <a:bodyPr rtlCol="0" anchor="ctr">
            <a:normAutofit/>
          </a:bodyPr>
          <a:lstStyle>
            <a:lvl1pPr algn="ctr">
              <a:defRPr sz="3000" b="0" i="1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0" name="Tekst — symbol zastępczy 9"/>
          <p:cNvSpPr>
            <a:spLocks noGrp="1"/>
          </p:cNvSpPr>
          <p:nvPr>
            <p:ph type="body" sz="quarter" idx="13" hasCustomPrompt="1"/>
          </p:nvPr>
        </p:nvSpPr>
        <p:spPr>
          <a:xfrm>
            <a:off x="1426408" y="3352800"/>
            <a:ext cx="9339184" cy="381000"/>
          </a:xfrm>
        </p:spPr>
        <p:txBody>
          <a:bodyPr rtlCol="0"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Prostokąt: Zaokrąglone narożniki 6">
            <a:extLst>
              <a:ext uri="{FF2B5EF4-FFF2-40B4-BE49-F238E27FC236}">
                <a16:creationId xmlns:a16="http://schemas.microsoft.com/office/drawing/2014/main" id="{1AD7857E-8E0E-4AC1-ABDC-E42462C788DE}"/>
              </a:ext>
            </a:extLst>
          </p:cNvPr>
          <p:cNvSpPr/>
          <p:nvPr userDrawn="1"/>
        </p:nvSpPr>
        <p:spPr>
          <a:xfrm>
            <a:off x="1750844" y="3962401"/>
            <a:ext cx="8690313" cy="1908173"/>
          </a:xfrm>
          <a:prstGeom prst="roundRect">
            <a:avLst>
              <a:gd name="adj" fmla="val 6552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 hasCustomPrompt="1"/>
          </p:nvPr>
        </p:nvSpPr>
        <p:spPr>
          <a:xfrm>
            <a:off x="1857375" y="4021138"/>
            <a:ext cx="8486775" cy="176053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295ABD-4BC2-4B48-BAFB-F5D2623D59D6}" type="datetime1">
              <a:rPr lang="pl-PL" noProof="0" smtClean="0"/>
              <a:t>06.12.2025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15340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85801" y="609599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685799" y="1869599"/>
            <a:ext cx="5202071" cy="91622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685800" y="2870201"/>
            <a:ext cx="5202071" cy="2916000"/>
          </a:xfrm>
          <a:prstGeom prst="roundRect">
            <a:avLst>
              <a:gd name="adj" fmla="val 2496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quarter" idx="3"/>
          </p:nvPr>
        </p:nvSpPr>
        <p:spPr>
          <a:xfrm>
            <a:off x="6298270" y="1869599"/>
            <a:ext cx="5228444" cy="91622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6" name="Zawartość — symbol zastępczy 5"/>
          <p:cNvSpPr>
            <a:spLocks noGrp="1"/>
          </p:cNvSpPr>
          <p:nvPr>
            <p:ph sz="quarter" idx="4"/>
          </p:nvPr>
        </p:nvSpPr>
        <p:spPr>
          <a:xfrm>
            <a:off x="6298270" y="2870201"/>
            <a:ext cx="5202071" cy="2916000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6E6FF5-10B5-4520-B424-314002547EE8}" type="datetime1">
              <a:rPr lang="pl-PL" noProof="0" smtClean="0"/>
              <a:t>06.12.2025</a:t>
            </a:fld>
            <a:endParaRPr lang="pl-PL" noProof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8031B0A9-3E16-4C5B-A6CE-045BCB91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3976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6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85801" y="609600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Prostokąt: Zaokrąglone narożniki 8">
            <a:extLst>
              <a:ext uri="{FF2B5EF4-FFF2-40B4-BE49-F238E27FC236}">
                <a16:creationId xmlns:a16="http://schemas.microsoft.com/office/drawing/2014/main" id="{E44449DE-635B-4B23-9B8B-C95A5B8764DB}"/>
              </a:ext>
            </a:extLst>
          </p:cNvPr>
          <p:cNvSpPr/>
          <p:nvPr userDrawn="1"/>
        </p:nvSpPr>
        <p:spPr>
          <a:xfrm>
            <a:off x="663356" y="1790228"/>
            <a:ext cx="10863358" cy="4080348"/>
          </a:xfrm>
          <a:prstGeom prst="roundRect">
            <a:avLst>
              <a:gd name="adj" fmla="val 2634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3" name="Zawartość — symbol zastępczy 2"/>
          <p:cNvSpPr>
            <a:spLocks noGrp="1"/>
          </p:cNvSpPr>
          <p:nvPr>
            <p:ph sz="half" idx="1"/>
          </p:nvPr>
        </p:nvSpPr>
        <p:spPr>
          <a:xfrm>
            <a:off x="685802" y="1869600"/>
            <a:ext cx="5040000" cy="3921601"/>
          </a:xfrm>
          <a:prstGeom prst="roundRect">
            <a:avLst>
              <a:gd name="adj" fmla="val 1970"/>
            </a:avLst>
          </a:prstGeom>
          <a:ln w="28575">
            <a:noFill/>
          </a:ln>
          <a:effectLst/>
        </p:spPr>
        <p:txBody>
          <a:bodyPr rtlCol="0" anchor="t" anchorCtr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5040000" cy="3921600"/>
          </a:xfrm>
          <a:prstGeom prst="roundRect">
            <a:avLst>
              <a:gd name="adj" fmla="val 2211"/>
            </a:avLst>
          </a:prstGeom>
          <a:ln w="28575">
            <a:noFill/>
          </a:ln>
          <a:effectLst/>
        </p:spPr>
        <p:txBody>
          <a:bodyPr rtlCol="0" anchor="t" anchorCtr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BD2DD7-8F7E-4874-86E6-B2CD33356289}" type="datetime1">
              <a:rPr lang="pl-PL" noProof="0" smtClean="0"/>
              <a:t>06.12.2025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E8539E0A-8009-4A6E-A7A1-5AEFA5220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9691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5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3" cy="3124199"/>
          </a:xfrm>
        </p:spPr>
        <p:txBody>
          <a:bodyPr rtlCol="0" anchor="ctr">
            <a:normAutofit/>
          </a:bodyPr>
          <a:lstStyle>
            <a:lvl1pPr algn="l">
              <a:defRPr sz="3000" b="0" cap="none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 hasCustomPrompt="1"/>
          </p:nvPr>
        </p:nvSpPr>
        <p:spPr>
          <a:xfrm>
            <a:off x="685800" y="3733800"/>
            <a:ext cx="10840914" cy="20574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7A6FCA-3862-4689-AF38-0CEFA03BEBDE}" type="datetime1">
              <a:rPr lang="pl-PL" noProof="0" smtClean="0"/>
              <a:t>06.12.2025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8332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85801" y="609600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E71632-6321-4CB2-9172-B67903807A08}" type="datetime1">
              <a:rPr lang="pl-PL" noProof="0" smtClean="0"/>
              <a:t>06.12.2025</a:t>
            </a:fld>
            <a:endParaRPr lang="pl-PL" noProof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51064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52D69C-5C15-46E8-BEDD-041AB9FD0836}" type="datetime1">
              <a:rPr lang="pl-PL" noProof="0" smtClean="0"/>
              <a:t>06.12.2025</a:t>
            </a:fld>
            <a:endParaRPr lang="pl-PL" noProof="0"/>
          </a:p>
        </p:txBody>
      </p:sp>
      <p:sp>
        <p:nvSpPr>
          <p:cNvPr id="3" name="Stopka — symbol zastępczy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45370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/>
          <p:cNvSpPr>
            <a:spLocks noGrp="1"/>
          </p:cNvSpPr>
          <p:nvPr>
            <p:ph type="title"/>
          </p:nvPr>
        </p:nvSpPr>
        <p:spPr bwMode="white">
          <a:xfrm>
            <a:off x="685801" y="609600"/>
            <a:ext cx="1084091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 bwMode="white">
          <a:xfrm>
            <a:off x="685801" y="2142067"/>
            <a:ext cx="10840914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901EA183-767A-45B8-B184-D577552D0B30}" type="datetime1">
              <a:rPr lang="pl-PL" noProof="0" smtClean="0"/>
              <a:t>06.12.2025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4"/>
          </p:nvPr>
        </p:nvSpPr>
        <p:spPr>
          <a:xfrm>
            <a:off x="10266059" y="5870575"/>
            <a:ext cx="1260655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009069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8" r:id="rId3"/>
    <p:sldLayoutId id="2147483679" r:id="rId4"/>
    <p:sldLayoutId id="2147483669" r:id="rId5"/>
    <p:sldLayoutId id="2147483680" r:id="rId6"/>
    <p:sldLayoutId id="2147483672" r:id="rId7"/>
    <p:sldLayoutId id="2147483665" r:id="rId8"/>
    <p:sldLayoutId id="2147483664" r:id="rId9"/>
    <p:sldLayoutId id="2147483671" r:id="rId10"/>
    <p:sldLayoutId id="2147483666" r:id="rId11"/>
    <p:sldLayoutId id="2147483667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35B398-1E7F-44AD-8356-8345134C9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850" y="1322918"/>
            <a:ext cx="8683625" cy="2421464"/>
          </a:xfrm>
        </p:spPr>
        <p:txBody>
          <a:bodyPr rtlCol="0"/>
          <a:lstStyle/>
          <a:p>
            <a:r>
              <a:rPr lang="pl-PL" dirty="0"/>
              <a:t>Wzorzec projektowy: </a:t>
            </a:r>
            <a:r>
              <a:rPr lang="pl-PL" dirty="0" err="1"/>
              <a:t>Strategy</a:t>
            </a:r>
            <a:r>
              <a:rPr lang="pl-PL" dirty="0"/>
              <a:t> (Strategia)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52A3D91-AB3F-4EDF-B87E-FDDF6C5DC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5296" y="5137736"/>
            <a:ext cx="9934829" cy="732840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Szymon Basta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0F562FAC-6B19-47F9-A933-CA552C533D55}"/>
              </a:ext>
            </a:extLst>
          </p:cNvPr>
          <p:cNvSpPr txBox="1">
            <a:spLocks/>
          </p:cNvSpPr>
          <p:nvPr/>
        </p:nvSpPr>
        <p:spPr bwMode="white">
          <a:xfrm>
            <a:off x="890586" y="4074639"/>
            <a:ext cx="9934829" cy="7328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Na przykładzie wyliczenia kosztów dostawy przesyłki</a:t>
            </a:r>
          </a:p>
        </p:txBody>
      </p:sp>
    </p:spTree>
    <p:extLst>
      <p:ext uri="{BB962C8B-B14F-4D97-AF65-F5344CB8AC3E}">
        <p14:creationId xmlns:p14="http://schemas.microsoft.com/office/powerpoint/2010/main" val="235274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1D935431-5E3F-4C1A-BED1-C5BC3D661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543" y="3093786"/>
            <a:ext cx="10840914" cy="1032826"/>
          </a:xfrm>
        </p:spPr>
        <p:txBody>
          <a:bodyPr rtlCol="0"/>
          <a:lstStyle/>
          <a:p>
            <a:pPr rtl="0"/>
            <a:r>
              <a:rPr lang="pl-PL" dirty="0"/>
              <a:t>Bez wzorca </a:t>
            </a:r>
            <a:r>
              <a:rPr lang="pl-PL" dirty="0" err="1"/>
              <a:t>Strategy</a:t>
            </a:r>
            <a:r>
              <a:rPr lang="pl-PL" dirty="0"/>
              <a:t> kod wyglądałby mniej więcej tak: 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4B8941C9-A5E2-4AE2-9E83-54DAEF9402B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76628" y="4583531"/>
            <a:ext cx="6861847" cy="502126"/>
          </a:xfrm>
        </p:spPr>
        <p:txBody>
          <a:bodyPr rtlCol="0"/>
          <a:lstStyle/>
          <a:p>
            <a:pPr algn="l"/>
            <a:r>
              <a:rPr lang="pl-PL" sz="1600" dirty="0"/>
              <a:t>Wady:</a:t>
            </a:r>
          </a:p>
          <a:p>
            <a:pPr algn="l"/>
            <a:r>
              <a:rPr lang="pl-PL" sz="1600" dirty="0"/>
              <a:t>- trudno </a:t>
            </a:r>
            <a:r>
              <a:rPr lang="pl-PL" sz="1600" b="1" dirty="0"/>
              <a:t>dodawać nowe metody dostawy</a:t>
            </a:r>
            <a:endParaRPr lang="pl-PL" sz="1600" dirty="0"/>
          </a:p>
          <a:p>
            <a:pPr algn="l"/>
            <a:r>
              <a:rPr lang="pl-PL" sz="1600" dirty="0"/>
              <a:t>- zmiana wymaga grzebania w istniejącej logice</a:t>
            </a:r>
          </a:p>
          <a:p>
            <a:pPr algn="l"/>
            <a:r>
              <a:rPr lang="pl-PL" sz="1600" dirty="0"/>
              <a:t>- rośnie ilość </a:t>
            </a:r>
            <a:r>
              <a:rPr lang="pl-PL" sz="1600" dirty="0" err="1"/>
              <a:t>if</a:t>
            </a:r>
            <a:r>
              <a:rPr lang="pl-PL" sz="1600" dirty="0"/>
              <a:t>/</a:t>
            </a:r>
            <a:r>
              <a:rPr lang="pl-PL" sz="1600" dirty="0" err="1"/>
              <a:t>else</a:t>
            </a:r>
            <a:r>
              <a:rPr lang="pl-PL" sz="1600" dirty="0"/>
              <a:t> → </a:t>
            </a:r>
            <a:r>
              <a:rPr lang="pl-PL" sz="1600" b="1" dirty="0"/>
              <a:t>kod robi się trudny w utrzymaniu</a:t>
            </a:r>
            <a:endParaRPr lang="pl-PL" sz="1600" dirty="0"/>
          </a:p>
          <a:p>
            <a:pPr algn="l"/>
            <a:r>
              <a:rPr lang="pl-PL" sz="1600" dirty="0"/>
              <a:t>- łamiemy zasadę </a:t>
            </a:r>
            <a:r>
              <a:rPr lang="pl-PL" sz="1600" b="1" dirty="0"/>
              <a:t>Open/</a:t>
            </a:r>
            <a:r>
              <a:rPr lang="pl-PL" sz="1600" b="1" dirty="0" err="1"/>
              <a:t>Closed</a:t>
            </a:r>
            <a:r>
              <a:rPr lang="pl-PL" sz="1600" b="1" dirty="0"/>
              <a:t> (O z SOLID)</a:t>
            </a:r>
            <a:r>
              <a:rPr lang="pl-PL" sz="1600" dirty="0"/>
              <a:t> — zmieniamy, zamiast rozszerzać</a:t>
            </a:r>
          </a:p>
        </p:txBody>
      </p:sp>
      <p:pic>
        <p:nvPicPr>
          <p:cNvPr id="5" name="Obraz 4" descr="Obraz zawierający tekst, Czcionka, zrzut ekranu, typografia&#10;&#10;Zawartość wygenerowana przez AI może być niepoprawna.">
            <a:extLst>
              <a:ext uri="{FF2B5EF4-FFF2-40B4-BE49-F238E27FC236}">
                <a16:creationId xmlns:a16="http://schemas.microsoft.com/office/drawing/2014/main" id="{7CA41D03-81CF-778F-36C5-4F4DB9B80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223" y="4429725"/>
            <a:ext cx="3410426" cy="809738"/>
          </a:xfrm>
          <a:prstGeom prst="rect">
            <a:avLst/>
          </a:prstGeom>
        </p:spPr>
      </p:pic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4EA52AE1-060F-6EEA-471A-24D8FAFBE362}"/>
              </a:ext>
            </a:extLst>
          </p:cNvPr>
          <p:cNvSpPr txBox="1">
            <a:spLocks/>
          </p:cNvSpPr>
          <p:nvPr/>
        </p:nvSpPr>
        <p:spPr bwMode="white">
          <a:xfrm>
            <a:off x="675543" y="1322670"/>
            <a:ext cx="10840914" cy="103282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l-PL" sz="2200" dirty="0"/>
              <a:t>Program symuluje obliczanie </a:t>
            </a:r>
            <a:r>
              <a:rPr lang="pl-PL" sz="2200" b="1" dirty="0"/>
              <a:t>kosztu dostawy zamówienia w sklepie internetowym</a:t>
            </a:r>
            <a:r>
              <a:rPr lang="pl-PL" sz="2200" dirty="0"/>
              <a:t>.</a:t>
            </a:r>
            <a:br>
              <a:rPr lang="pl-PL" sz="2200" dirty="0"/>
            </a:br>
            <a:r>
              <a:rPr lang="pl-PL" sz="2200" dirty="0"/>
              <a:t>Użytkownik może wybrać różny sposób dostawy, np. </a:t>
            </a:r>
            <a:r>
              <a:rPr lang="pl-PL" sz="2200" b="1" dirty="0"/>
              <a:t>paczkomat, kurier lub odbiór osobisty</a:t>
            </a:r>
            <a:r>
              <a:rPr lang="pl-PL" sz="2200" dirty="0"/>
              <a:t>, a system </a:t>
            </a:r>
            <a:r>
              <a:rPr lang="pl-PL" sz="2200" b="1" dirty="0"/>
              <a:t>wylicza koszt w zależności od wybranego sposobu</a:t>
            </a:r>
            <a:r>
              <a:rPr lang="pl-PL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7041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tuł 1">
            <a:extLst>
              <a:ext uri="{FF2B5EF4-FFF2-40B4-BE49-F238E27FC236}">
                <a16:creationId xmlns:a16="http://schemas.microsoft.com/office/drawing/2014/main" id="{A4F01BF9-4C65-8351-FD6F-2188C676A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542" y="190857"/>
            <a:ext cx="10840914" cy="1260000"/>
          </a:xfrm>
        </p:spPr>
        <p:txBody>
          <a:bodyPr rtlCol="0"/>
          <a:lstStyle/>
          <a:p>
            <a:pPr algn="ctr"/>
            <a:r>
              <a:rPr lang="pl-PL" dirty="0"/>
              <a:t>Diagram klas wzorca </a:t>
            </a:r>
            <a:r>
              <a:rPr lang="pl-PL" dirty="0" err="1"/>
              <a:t>Strategy</a:t>
            </a:r>
            <a:endParaRPr lang="pl-PL" dirty="0"/>
          </a:p>
        </p:txBody>
      </p:sp>
      <p:pic>
        <p:nvPicPr>
          <p:cNvPr id="14" name="Obraz 13" descr="Obraz zawierający tekst, zrzut ekranu, diagram, Czcionka&#10;&#10;Zawartość wygenerowana przez AI może być niepoprawna.">
            <a:extLst>
              <a:ext uri="{FF2B5EF4-FFF2-40B4-BE49-F238E27FC236}">
                <a16:creationId xmlns:a16="http://schemas.microsoft.com/office/drawing/2014/main" id="{50A703F5-F6BB-40C9-E03F-BB4801781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42" y="1450857"/>
            <a:ext cx="10840914" cy="519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62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A62B2-91F3-8454-7464-3EF1742C2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68C62B44-2104-0607-B025-2CBE1F62D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821" y="1553406"/>
            <a:ext cx="4260356" cy="2130178"/>
          </a:xfrm>
          <a:prstGeom prst="rect">
            <a:avLst/>
          </a:prstGeom>
        </p:spPr>
      </p:pic>
      <p:sp>
        <p:nvSpPr>
          <p:cNvPr id="4" name="Tytuł 1">
            <a:extLst>
              <a:ext uri="{FF2B5EF4-FFF2-40B4-BE49-F238E27FC236}">
                <a16:creationId xmlns:a16="http://schemas.microsoft.com/office/drawing/2014/main" id="{0F48F53A-9B2B-D9FF-E6B2-2C89305A8A28}"/>
              </a:ext>
            </a:extLst>
          </p:cNvPr>
          <p:cNvSpPr txBox="1">
            <a:spLocks/>
          </p:cNvSpPr>
          <p:nvPr/>
        </p:nvSpPr>
        <p:spPr bwMode="white">
          <a:xfrm>
            <a:off x="675542" y="190857"/>
            <a:ext cx="10840914" cy="126000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l-PL" dirty="0"/>
              <a:t>Interfejs strategii (</a:t>
            </a:r>
            <a:r>
              <a:rPr lang="pl-PL" dirty="0" err="1"/>
              <a:t>IShippingStrategy</a:t>
            </a:r>
            <a:r>
              <a:rPr lang="pl-PL" dirty="0"/>
              <a:t>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CEA4E2B-6F76-3E0B-95CB-28A5BB45BC9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140613" y="4023384"/>
            <a:ext cx="791077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wspólny kontrakt dla wszystkich metod dostawy</a:t>
            </a:r>
            <a:b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pl-PL" altLang="pl-P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Każda strategia musi mieć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l-PL" altLang="pl-P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l-PL" altLang="pl-PL" sz="2400" dirty="0">
                <a:latin typeface="+mj-lt"/>
              </a:rPr>
              <a:t> </a:t>
            </a: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Umożliwia wymienne stosowanie różnych algorytmów</a:t>
            </a:r>
          </a:p>
        </p:txBody>
      </p:sp>
    </p:spTree>
    <p:extLst>
      <p:ext uri="{BB962C8B-B14F-4D97-AF65-F5344CB8AC3E}">
        <p14:creationId xmlns:p14="http://schemas.microsoft.com/office/powerpoint/2010/main" val="3166646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DED3C6-003C-4A2D-B351-F00A04BF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931" y="299925"/>
            <a:ext cx="6238874" cy="760279"/>
          </a:xfrm>
        </p:spPr>
        <p:txBody>
          <a:bodyPr rtlCol="0"/>
          <a:lstStyle/>
          <a:p>
            <a:r>
              <a:rPr lang="pl-PL" dirty="0"/>
              <a:t>Konkretne strategie dostawy</a:t>
            </a:r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44FA16B2-6A61-4B79-B91C-B41F21F14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r>
              <a:rPr lang="pl-PL" dirty="0"/>
              <a:t>v</a:t>
            </a:r>
          </a:p>
        </p:txBody>
      </p:sp>
      <p:pic>
        <p:nvPicPr>
          <p:cNvPr id="8" name="Obraz 7" descr="Obraz zawierający tekst, zrzut ekranu, Czcionk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4403D3AE-1998-99F5-8B45-141051DEB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601" y="4014545"/>
            <a:ext cx="5896798" cy="2543530"/>
          </a:xfrm>
          <a:prstGeom prst="rect">
            <a:avLst/>
          </a:prstGeom>
        </p:spPr>
      </p:pic>
      <p:pic>
        <p:nvPicPr>
          <p:cNvPr id="10" name="Obraz 9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E0D804F3-1F92-596B-EC72-3D53F7A9C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34" y="1251320"/>
            <a:ext cx="5411871" cy="2581635"/>
          </a:xfrm>
          <a:prstGeom prst="rect">
            <a:avLst/>
          </a:prstGeom>
        </p:spPr>
      </p:pic>
      <p:pic>
        <p:nvPicPr>
          <p:cNvPr id="12" name="Obraz 11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1585B294-2098-D701-6894-817831270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834" y="1255706"/>
            <a:ext cx="5439534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94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DDD73-5D31-D7DC-13BA-A823F3817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881D3D-D3CE-4537-23C1-4A4B1114B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5113" y="305719"/>
            <a:ext cx="6706313" cy="916228"/>
          </a:xfrm>
        </p:spPr>
        <p:txBody>
          <a:bodyPr rtlCol="0"/>
          <a:lstStyle/>
          <a:p>
            <a:r>
              <a:rPr lang="pl-PL" sz="3000" dirty="0"/>
              <a:t>Kontekst – </a:t>
            </a:r>
            <a:r>
              <a:rPr lang="pl-PL" sz="3000" dirty="0" err="1">
                <a:latin typeface="Corbel (Tekst podstawowy)"/>
              </a:rPr>
              <a:t>ShippingCostCalculator</a:t>
            </a:r>
            <a:endParaRPr lang="pl-PL" sz="3000" dirty="0"/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E0C86639-6E0D-C5AB-4B07-CDF0B0EE3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8660" y="2329797"/>
            <a:ext cx="4139439" cy="2198406"/>
          </a:xfrm>
        </p:spPr>
        <p:txBody>
          <a:bodyPr rtlCol="0"/>
          <a:lstStyle/>
          <a:p>
            <a:pPr algn="l"/>
            <a:r>
              <a:rPr lang="pl-PL" sz="2000" dirty="0"/>
              <a:t>• korzysta ze strategii przez interfejs</a:t>
            </a:r>
          </a:p>
          <a:p>
            <a:pPr algn="l"/>
            <a:r>
              <a:rPr lang="pl-PL" sz="2000" dirty="0"/>
              <a:t>• przechowuje aktualną strategię</a:t>
            </a:r>
          </a:p>
          <a:p>
            <a:pPr algn="l"/>
            <a:r>
              <a:rPr lang="pl-PL" sz="2000" dirty="0"/>
              <a:t>• nie zna szczegółów obliczeń</a:t>
            </a:r>
          </a:p>
        </p:txBody>
      </p:sp>
      <p:pic>
        <p:nvPicPr>
          <p:cNvPr id="12" name="Obraz 11" descr="Obraz zawierający tekst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82F5FB00-C2ED-710B-2A30-FE6043B45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207" y="1630633"/>
            <a:ext cx="6096851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47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15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5A0EE1E6-C3A4-3FB6-05BD-B7B1C5929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687" y="1066470"/>
            <a:ext cx="6839905" cy="4725059"/>
          </a:xfrm>
          <a:prstGeom prst="rect">
            <a:avLst/>
          </a:prstGeom>
        </p:spPr>
      </p:pic>
      <p:sp>
        <p:nvSpPr>
          <p:cNvPr id="17" name="Tekst — symbol zastępczy 4">
            <a:extLst>
              <a:ext uri="{FF2B5EF4-FFF2-40B4-BE49-F238E27FC236}">
                <a16:creationId xmlns:a16="http://schemas.microsoft.com/office/drawing/2014/main" id="{24A2F1A1-E75A-E86E-3174-AFD7AC1F8EAE}"/>
              </a:ext>
            </a:extLst>
          </p:cNvPr>
          <p:cNvSpPr txBox="1">
            <a:spLocks/>
          </p:cNvSpPr>
          <p:nvPr/>
        </p:nvSpPr>
        <p:spPr>
          <a:xfrm>
            <a:off x="601928" y="2329796"/>
            <a:ext cx="4139439" cy="2198406"/>
          </a:xfrm>
          <a:prstGeom prst="rect">
            <a:avLst/>
          </a:prstGeom>
        </p:spPr>
        <p:txBody>
          <a:bodyPr rtlCol="0"/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l-PL" sz="2000" dirty="0"/>
              <a:t>Program wybiera metodę dostawy jako strategię</a:t>
            </a:r>
          </a:p>
          <a:p>
            <a:r>
              <a:rPr lang="pl-PL" sz="2000" dirty="0"/>
              <a:t>Strategię można zmieniać dynamicznie (</a:t>
            </a:r>
            <a:r>
              <a:rPr lang="pl-PL" sz="2000" dirty="0" err="1"/>
              <a:t>SetStrategy</a:t>
            </a:r>
            <a:r>
              <a:rPr lang="pl-PL" sz="2000" dirty="0"/>
              <a:t>)</a:t>
            </a:r>
          </a:p>
          <a:p>
            <a:r>
              <a:rPr lang="pl-PL" sz="2000" dirty="0"/>
              <a:t>Kalkulator zawsze korzysta z bieżącej strategii</a:t>
            </a:r>
          </a:p>
        </p:txBody>
      </p:sp>
    </p:spTree>
    <p:extLst>
      <p:ext uri="{BB962C8B-B14F-4D97-AF65-F5344CB8AC3E}">
        <p14:creationId xmlns:p14="http://schemas.microsoft.com/office/powerpoint/2010/main" val="194386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 — symbol zastępczy 2">
            <a:extLst>
              <a:ext uri="{FF2B5EF4-FFF2-40B4-BE49-F238E27FC236}">
                <a16:creationId xmlns:a16="http://schemas.microsoft.com/office/drawing/2014/main" id="{1A361169-E963-32AE-F60E-16929A005069}"/>
              </a:ext>
            </a:extLst>
          </p:cNvPr>
          <p:cNvSpPr txBox="1">
            <a:spLocks/>
          </p:cNvSpPr>
          <p:nvPr/>
        </p:nvSpPr>
        <p:spPr bwMode="white">
          <a:xfrm>
            <a:off x="2742843" y="365540"/>
            <a:ext cx="6706313" cy="9162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dirty="0"/>
              <a:t>Gdzie stosuje się </a:t>
            </a:r>
            <a:r>
              <a:rPr lang="pl-PL" sz="3600" dirty="0" err="1"/>
              <a:t>Strategy</a:t>
            </a:r>
            <a:r>
              <a:rPr lang="pl-PL" sz="3600" dirty="0"/>
              <a:t>?</a:t>
            </a:r>
          </a:p>
        </p:txBody>
      </p:sp>
      <p:sp>
        <p:nvSpPr>
          <p:cNvPr id="19" name="Tekst — symbol zastępczy 4">
            <a:extLst>
              <a:ext uri="{FF2B5EF4-FFF2-40B4-BE49-F238E27FC236}">
                <a16:creationId xmlns:a16="http://schemas.microsoft.com/office/drawing/2014/main" id="{44932999-12AC-95EA-C16A-4958058B9ADC}"/>
              </a:ext>
            </a:extLst>
          </p:cNvPr>
          <p:cNvSpPr txBox="1">
            <a:spLocks/>
          </p:cNvSpPr>
          <p:nvPr/>
        </p:nvSpPr>
        <p:spPr>
          <a:xfrm>
            <a:off x="960852" y="1743875"/>
            <a:ext cx="6706313" cy="3370249"/>
          </a:xfrm>
          <a:prstGeom prst="rect">
            <a:avLst/>
          </a:prstGeom>
        </p:spPr>
        <p:txBody>
          <a:bodyPr rtlCol="0"/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l-PL" sz="2000" dirty="0"/>
              <a:t>Różne sposoby naliczania kosztów / opłat</a:t>
            </a:r>
          </a:p>
          <a:p>
            <a:r>
              <a:rPr lang="pl-PL" sz="2000" dirty="0"/>
              <a:t>np. dostawa, rabaty, prowizje</a:t>
            </a:r>
          </a:p>
          <a:p>
            <a:r>
              <a:rPr lang="pl-PL" sz="2000" dirty="0"/>
              <a:t>Zamienne metody płatności</a:t>
            </a:r>
          </a:p>
          <a:p>
            <a:r>
              <a:rPr lang="pl-PL" sz="2000" dirty="0"/>
              <a:t>BLIK, karta, </a:t>
            </a:r>
            <a:r>
              <a:rPr lang="pl-PL" sz="2000" dirty="0" err="1"/>
              <a:t>PayPal</a:t>
            </a:r>
            <a:r>
              <a:rPr lang="pl-PL" sz="2000" dirty="0"/>
              <a:t>, portfel Google</a:t>
            </a:r>
          </a:p>
          <a:p>
            <a:r>
              <a:rPr lang="pl-PL" sz="2000" dirty="0"/>
              <a:t>Różne sposoby logowania / </a:t>
            </a:r>
            <a:r>
              <a:rPr lang="pl-PL" sz="2000" dirty="0" err="1"/>
              <a:t>serializacji</a:t>
            </a:r>
            <a:endParaRPr lang="pl-PL" sz="2000" dirty="0"/>
          </a:p>
          <a:p>
            <a:r>
              <a:rPr lang="pl-PL" sz="2000" dirty="0"/>
              <a:t>Wybór algorytmu sortowania / kompresji</a:t>
            </a:r>
          </a:p>
        </p:txBody>
      </p:sp>
    </p:spTree>
    <p:extLst>
      <p:ext uri="{BB962C8B-B14F-4D97-AF65-F5344CB8AC3E}">
        <p14:creationId xmlns:p14="http://schemas.microsoft.com/office/powerpoint/2010/main" val="1445218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— symbol zastępczy 2">
            <a:extLst>
              <a:ext uri="{FF2B5EF4-FFF2-40B4-BE49-F238E27FC236}">
                <a16:creationId xmlns:a16="http://schemas.microsoft.com/office/drawing/2014/main" id="{7213CC2A-314A-5DDF-4493-951F1FDF72F0}"/>
              </a:ext>
            </a:extLst>
          </p:cNvPr>
          <p:cNvSpPr txBox="1">
            <a:spLocks/>
          </p:cNvSpPr>
          <p:nvPr/>
        </p:nvSpPr>
        <p:spPr bwMode="white">
          <a:xfrm>
            <a:off x="2174725" y="579184"/>
            <a:ext cx="7842547" cy="9162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dirty="0"/>
              <a:t>Zalety i wady wzorca </a:t>
            </a:r>
            <a:r>
              <a:rPr lang="pl-PL" sz="3600" dirty="0" err="1"/>
              <a:t>Strategy</a:t>
            </a:r>
            <a:endParaRPr lang="pl-PL" sz="3600" dirty="0"/>
          </a:p>
        </p:txBody>
      </p:sp>
      <p:sp>
        <p:nvSpPr>
          <p:cNvPr id="12" name="Tekst — symbol zastępczy 4">
            <a:extLst>
              <a:ext uri="{FF2B5EF4-FFF2-40B4-BE49-F238E27FC236}">
                <a16:creationId xmlns:a16="http://schemas.microsoft.com/office/drawing/2014/main" id="{1A7C504E-EE49-2803-EEF2-5D92857C7B31}"/>
              </a:ext>
            </a:extLst>
          </p:cNvPr>
          <p:cNvSpPr txBox="1">
            <a:spLocks/>
          </p:cNvSpPr>
          <p:nvPr/>
        </p:nvSpPr>
        <p:spPr>
          <a:xfrm>
            <a:off x="328464" y="2226163"/>
            <a:ext cx="5459888" cy="3370249"/>
          </a:xfrm>
          <a:prstGeom prst="rect">
            <a:avLst/>
          </a:prstGeom>
        </p:spPr>
        <p:txBody>
          <a:bodyPr rtlCol="0"/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 sz="2000" dirty="0"/>
              <a:t>Zalety</a:t>
            </a:r>
          </a:p>
          <a:p>
            <a:r>
              <a:rPr lang="pl-PL" sz="2000" dirty="0"/>
              <a:t>Łatwo dodawać nowe algorytmy (nowa klasa)</a:t>
            </a:r>
          </a:p>
          <a:p>
            <a:r>
              <a:rPr lang="pl-PL" sz="2000" dirty="0"/>
              <a:t>Kod kontekstu nie zmienia się </a:t>
            </a:r>
          </a:p>
          <a:p>
            <a:r>
              <a:rPr lang="pl-PL" sz="2000" dirty="0"/>
              <a:t>Redukuje złożone </a:t>
            </a:r>
            <a:r>
              <a:rPr lang="pl-PL" sz="2000" dirty="0" err="1"/>
              <a:t>if</a:t>
            </a:r>
            <a:r>
              <a:rPr lang="pl-PL" sz="2000" dirty="0"/>
              <a:t>/</a:t>
            </a:r>
            <a:r>
              <a:rPr lang="pl-PL" sz="2000" dirty="0" err="1"/>
              <a:t>else</a:t>
            </a:r>
            <a:endParaRPr lang="pl-PL" sz="2000" dirty="0"/>
          </a:p>
          <a:p>
            <a:r>
              <a:rPr lang="pl-PL" sz="2000" dirty="0"/>
              <a:t>Możliwość zmiany strategii w czasie działania</a:t>
            </a:r>
          </a:p>
        </p:txBody>
      </p:sp>
      <p:sp>
        <p:nvSpPr>
          <p:cNvPr id="13" name="Tekst — symbol zastępczy 4">
            <a:extLst>
              <a:ext uri="{FF2B5EF4-FFF2-40B4-BE49-F238E27FC236}">
                <a16:creationId xmlns:a16="http://schemas.microsoft.com/office/drawing/2014/main" id="{16091260-E6DC-4007-9405-98262E9A9493}"/>
              </a:ext>
            </a:extLst>
          </p:cNvPr>
          <p:cNvSpPr txBox="1">
            <a:spLocks/>
          </p:cNvSpPr>
          <p:nvPr/>
        </p:nvSpPr>
        <p:spPr>
          <a:xfrm>
            <a:off x="6095999" y="2226163"/>
            <a:ext cx="5767537" cy="3370249"/>
          </a:xfrm>
          <a:prstGeom prst="rect">
            <a:avLst/>
          </a:prstGeom>
        </p:spPr>
        <p:txBody>
          <a:bodyPr rtlCol="0"/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 sz="2000" dirty="0"/>
              <a:t>Wady</a:t>
            </a:r>
          </a:p>
          <a:p>
            <a:r>
              <a:rPr lang="pl-PL" sz="2000" dirty="0"/>
              <a:t>Więcej klas → może zwiększać złożoność projektu</a:t>
            </a:r>
          </a:p>
          <a:p>
            <a:r>
              <a:rPr lang="pl-PL" sz="2000" dirty="0"/>
              <a:t>Trzeba decydować, którą strategię wybrać</a:t>
            </a:r>
          </a:p>
          <a:p>
            <a:r>
              <a:rPr lang="pl-PL" sz="2000" dirty="0"/>
              <a:t>W prostych przypadkach przerost formy</a:t>
            </a:r>
          </a:p>
        </p:txBody>
      </p:sp>
    </p:spTree>
    <p:extLst>
      <p:ext uri="{BB962C8B-B14F-4D97-AF65-F5344CB8AC3E}">
        <p14:creationId xmlns:p14="http://schemas.microsoft.com/office/powerpoint/2010/main" val="2776209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klepienie niebieski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61154988_TF22736411_Win32" id="{70F50A58-E280-4325-91AF-26E370CC044C}" vid="{BA8FB841-3254-472B-9201-8EAB494C377C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Słynne wydarzenie w prezentacji historycznej</Template>
  <TotalTime>82</TotalTime>
  <Words>272</Words>
  <Application>Microsoft Office PowerPoint</Application>
  <PresentationFormat>Panoramiczny</PresentationFormat>
  <Paragraphs>51</Paragraphs>
  <Slides>9</Slides>
  <Notes>9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4" baseType="lpstr">
      <vt:lpstr>Arial</vt:lpstr>
      <vt:lpstr>Calibri</vt:lpstr>
      <vt:lpstr>Corbel</vt:lpstr>
      <vt:lpstr>Corbel (Tekst podstawowy)</vt:lpstr>
      <vt:lpstr>Sklepienie niebieskie</vt:lpstr>
      <vt:lpstr>Wzorzec projektowy: Strategy (Strategia)</vt:lpstr>
      <vt:lpstr>Prezentacja programu PowerPoint</vt:lpstr>
      <vt:lpstr>Diagram klas wzorca Strategy</vt:lpstr>
      <vt:lpstr>Prezentacja programu PowerPoint</vt:lpstr>
      <vt:lpstr>Konkretne strategie dostawy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Szymon Basta</dc:creator>
  <cp:lastModifiedBy>Szymon Basta</cp:lastModifiedBy>
  <cp:revision>1</cp:revision>
  <dcterms:created xsi:type="dcterms:W3CDTF">2025-12-06T18:06:49Z</dcterms:created>
  <dcterms:modified xsi:type="dcterms:W3CDTF">2025-12-06T19:29:25Z</dcterms:modified>
</cp:coreProperties>
</file>